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7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F45D-054A-4ED3-9175-35921BA52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1DF4A-C487-43B5-B913-4CA20A1E9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9684B-9DAE-490E-9E4D-BE982C0C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A97BB-499F-4F21-B6AC-EEE801E7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9700E-6D1E-461F-8402-B5CAD550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7AF6-C78D-4709-9133-B460D53D1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C4CE-03EB-4D9D-860A-92A6E5F74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67CB-1E99-44DD-97DD-E6F54136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99047-12FD-432B-AA6C-C2815FB22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EF1CA-1B75-433D-BEB6-61C84DE2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2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33B6-4C33-4618-AD2A-E9906246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E7FF-DB17-4161-8CCD-0EE4C3047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97886-FC3F-4C46-8221-F1BB974C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FF98-9DEC-455B-88EA-BFD1E767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13834-4CD8-40C4-B572-71263F547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3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CC9F-B112-4E5D-AA8F-73E83254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FE57A-29DB-45FD-958D-1E3E4643F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BEDD8-868F-4130-9B64-E1788D3AB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6A371-9986-4FAC-8FA7-84DAD582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C20B0-2C5F-4360-AA91-902E05FC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C398E-106B-49B4-A118-BE98F864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4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8DCC-31D5-4043-933E-0DF713D7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9EA72-EA40-4D89-9EAD-398B6156B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B8EC9-C571-4808-B73F-970517B7A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3CF76-DFEC-486B-A519-DE5BD863B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E64A3-FFDD-4A24-B28D-D69847315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B480DC-5E99-4838-92D8-76155C76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C5DF9-ED9C-4240-AC5F-D3ECBF56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0248A-4EE4-4CE6-A8FE-F1C89402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2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1B4D-2AF4-4BDF-9028-810A662C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6C664-D1F8-424C-AFB1-C979B5238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E4BB0-DB3A-436B-BEA9-2144C564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0E6C6-FA62-450C-A95B-83A905FD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A809E-B35F-490D-BCC8-D2AC58D6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157ED-478F-4050-9B59-037D6A99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59C6B-7DCB-4A27-A5D2-4F109725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6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1698-0F24-4963-B497-7C469693C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0780F-F5E0-4269-8F9E-B18347BAD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27B8E-AEBF-41A9-9B08-94692A4E5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D7DCD-CAAB-44B4-95C9-86E80613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92BB-5C6D-40A8-B0D9-64E1302A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A3DFE-BDCB-4F64-A6FC-6F1EA2C3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6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4BA1-10C0-4CFA-85A5-703E47D2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9A13AD-7243-436E-9CDA-0DD6DE95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EC385-16AA-4D2B-A7BA-904D8D96A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40FBF-99BB-4DEF-BB32-253A3755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80E5E-49AF-42FC-8ED8-395CE702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4A5FA-6562-47FB-83B1-C2609DD5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70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F6AB-2D02-414A-B7C6-D8116293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E3459-F4BF-4914-AD91-0AA5BA25D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EF982-E53D-439B-83F2-D9EED3FF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34881-46EB-4748-92F1-2580DE94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0788-A626-4451-8E31-78F923EA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9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B5414-E3F0-4837-B14A-BF2E52D85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E287C-4372-45C4-A096-1BBF1D1C2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EAA0F-C7A7-4AEC-9FFC-BAAC43925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6EB19-E13F-4A1D-AE19-8B88F9C1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129E3-A9C6-4073-A8F5-73F0EC11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4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E2BC6-B9F6-433E-90F6-643DD9F7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1683D-888D-42A5-95FC-699C64F10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D6F21-8218-4A04-84F3-886BC4397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E6042-70DD-4B4C-9C38-C01AD19CF79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0C88A-53DB-497F-8E38-F3CB6E508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8D732-FFA6-41AC-8BC1-53117D338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807DE-BDA3-4B05-BE1C-740B0EFB6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30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12F50-0E75-4D9F-BAD5-888E89FAB190}"/>
              </a:ext>
            </a:extLst>
          </p:cNvPr>
          <p:cNvSpPr txBox="1"/>
          <p:nvPr/>
        </p:nvSpPr>
        <p:spPr>
          <a:xfrm>
            <a:off x="2916011" y="2319435"/>
            <a:ext cx="5667375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NHẬP MÔN VỀ AI VÀ DATA</a:t>
            </a:r>
          </a:p>
          <a:p>
            <a:pPr algn="ctr"/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Trần Đoàn Việt Cường – B25DCTV012</a:t>
            </a:r>
          </a:p>
        </p:txBody>
      </p:sp>
    </p:spTree>
    <p:extLst>
      <p:ext uri="{BB962C8B-B14F-4D97-AF65-F5344CB8AC3E}">
        <p14:creationId xmlns:p14="http://schemas.microsoft.com/office/powerpoint/2010/main" val="4025853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7255ED7-F6FE-4984-A90B-BE0B143DA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25" y="463044"/>
            <a:ext cx="6656808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Phần 1: Tổng quan về AI</a:t>
            </a:r>
          </a:p>
          <a:p>
            <a:pPr marL="457200" indent="-457200"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AI là gì &amp; Các lĩnh vực chính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AI (Artificial Intelligence):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Là trí tuệ do con người lập trình tạo nên với mục tiêu giúp máy tính có thể tự động hóa các hành vi thông minh như con người.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Các lĩnh vực chính: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(Thị giác máy tính).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- NLP (Xử lý ngôn ngữ tự nhiên).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Robotics.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(Nhận dạng tiếng nói).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thực tế: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Xe tự hành (Tesla, Waymo).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Chatbot/Trợ lý ảo (Siri, ChatGPT).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Gợi ý sản phẩm (Netflix, Shopee).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Chẩn đoán y khoa qua hình ảnh.</a:t>
            </a:r>
          </a:p>
        </p:txBody>
      </p:sp>
    </p:spTree>
    <p:extLst>
      <p:ext uri="{BB962C8B-B14F-4D97-AF65-F5344CB8AC3E}">
        <p14:creationId xmlns:p14="http://schemas.microsoft.com/office/powerpoint/2010/main" val="16420301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7205DB-5575-4367-9199-9F961CB1C047}"/>
              </a:ext>
            </a:extLst>
          </p:cNvPr>
          <p:cNvSpPr txBox="1"/>
          <p:nvPr/>
        </p:nvSpPr>
        <p:spPr>
          <a:xfrm>
            <a:off x="576166" y="458288"/>
            <a:ext cx="609755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>
                <a:latin typeface="+mj-lt"/>
              </a:rPr>
              <a:t>.</a:t>
            </a:r>
            <a:r>
              <a:rPr lang="vi-VN" sz="2000" b="1">
                <a:latin typeface="+mj-lt"/>
              </a:rPr>
              <a:t> Dữ liệu (Data) trong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+mj-lt"/>
              </a:rPr>
              <a:t>Dữ liệu là gì?</a:t>
            </a:r>
            <a:r>
              <a:rPr lang="vi-VN">
                <a:latin typeface="+mj-lt"/>
              </a:rPr>
              <a:t> Là tập hợp các sự kiện, con số, văn bản, hình ảnh, âm thanh thô chưa qua xử lý.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+mj-lt"/>
              </a:rPr>
              <a:t>Tại sao dữ liệu quan trọng?</a:t>
            </a:r>
            <a:endParaRPr lang="vi-VN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+mj-lt"/>
              </a:rPr>
              <a:t>Là "nhiên liệu" cho các mô hình AI học tập.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+mj-lt"/>
              </a:rPr>
              <a:t>Quyết định độ chính xác của mô hình (Nguyên lý "Garbage In, Garbage Out" - Dữ liệu rác thì kết quả rác).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+mj-lt"/>
              </a:rPr>
              <a:t>Giúp AI nhận diện mẫu (pattern) và đưa ra dự đoán.</a:t>
            </a:r>
          </a:p>
        </p:txBody>
      </p:sp>
    </p:spTree>
    <p:extLst>
      <p:ext uri="{BB962C8B-B14F-4D97-AF65-F5344CB8AC3E}">
        <p14:creationId xmlns:p14="http://schemas.microsoft.com/office/powerpoint/2010/main" val="37021107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5506FE-1C40-4776-B694-485FA4690B22}"/>
              </a:ext>
            </a:extLst>
          </p:cNvPr>
          <p:cNvSpPr txBox="1"/>
          <p:nvPr/>
        </p:nvSpPr>
        <p:spPr>
          <a:xfrm>
            <a:off x="464198" y="370505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 3 Loại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toán Machine Learning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D05BD1-7E02-4AA2-BA8F-173E1D2A8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002611"/>
              </p:ext>
            </p:extLst>
          </p:nvPr>
        </p:nvGraphicFramePr>
        <p:xfrm>
          <a:off x="573501" y="930651"/>
          <a:ext cx="6920865" cy="4809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1245">
                  <a:extLst>
                    <a:ext uri="{9D8B030D-6E8A-4147-A177-3AD203B41FA5}">
                      <a16:colId xmlns:a16="http://schemas.microsoft.com/office/drawing/2014/main" val="1520461608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379669829"/>
                    </a:ext>
                  </a:extLst>
                </a:gridCol>
                <a:gridCol w="1878965">
                  <a:extLst>
                    <a:ext uri="{9D8B030D-6E8A-4147-A177-3AD203B41FA5}">
                      <a16:colId xmlns:a16="http://schemas.microsoft.com/office/drawing/2014/main" val="1474258307"/>
                    </a:ext>
                  </a:extLst>
                </a:gridCol>
                <a:gridCol w="1890395">
                  <a:extLst>
                    <a:ext uri="{9D8B030D-6E8A-4147-A177-3AD203B41FA5}">
                      <a16:colId xmlns:a16="http://schemas.microsoft.com/office/drawing/2014/main" val="101312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Đặc điểm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Learning (Học có giám sát)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Unsupervised Learning (Học không giám sát)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(Học tăng cường)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01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 nghĩa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 học từ dữ liệu đã được gán nhãn (có đáp án trước)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 học từ dữ liệu chưa đưuọc gán nhãn (không có đáp án)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 học thông qua việc tương tác với môi trường (thử và sai)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281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 liệu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(X) và Output (Y) đã biết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 có Input (X), không có Output(Y)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 liệu sinh ra từ hành động và phản hồi (thưởng/phạt)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2552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Mục tiêu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 đoán kết quả co dữ liệu mới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 ra cấu trúc ẩn, gom nhóm dữ liệu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Tối ưu hóa hành động để đạt phần thưởng lớn nhất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729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Ví dụ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Dự báo giá nhà, phân loại thư rác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 nhóm khách hàng, gợi ý sản phẩm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Chơi cờ vua, robot tự hành, Game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2531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715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A7EB72E-291B-42A3-BD85-5A3672246856}"/>
              </a:ext>
            </a:extLst>
          </p:cNvPr>
          <p:cNvSpPr txBox="1"/>
          <p:nvPr/>
        </p:nvSpPr>
        <p:spPr>
          <a:xfrm>
            <a:off x="523252" y="314523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4. Thuật ngữ (Terminology) và Ký hiệu (Notions)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B81F34-D020-4408-BA7A-1EFFCBBAF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52" y="980545"/>
            <a:ext cx="7439478" cy="302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78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F5F73D-55E9-4906-8EE4-7B739CE93FCE}"/>
              </a:ext>
            </a:extLst>
          </p:cNvPr>
          <p:cNvSpPr txBox="1"/>
          <p:nvPr/>
        </p:nvSpPr>
        <p:spPr>
          <a:xfrm>
            <a:off x="417545" y="333183"/>
            <a:ext cx="609755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500" b="1">
                <a:latin typeface="+mj-lt"/>
              </a:rPr>
              <a:t>PHẦN 2: CÁC THƯ VIỆN PHỔ BIẾN</a:t>
            </a:r>
            <a:endParaRPr lang="en-US" sz="2500" b="1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832A1-FB85-4E21-8893-B00E612A4573}"/>
              </a:ext>
            </a:extLst>
          </p:cNvPr>
          <p:cNvSpPr txBox="1"/>
          <p:nvPr/>
        </p:nvSpPr>
        <p:spPr>
          <a:xfrm>
            <a:off x="417545" y="921011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 Numpy (Numerical Python)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E2804-73B9-4945-A981-AEB7B699CB95}"/>
              </a:ext>
            </a:extLst>
          </p:cNvPr>
          <p:cNvSpPr txBox="1"/>
          <p:nvPr/>
        </p:nvSpPr>
        <p:spPr>
          <a:xfrm>
            <a:off x="546786" y="1431895"/>
            <a:ext cx="61866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Khái niệm: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Thư viện lõi hỗ trợ tính toán khoa học, làm việc với mảng đa chiều (arrays) và ma trận.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Thời gian &amp; Sáng lập: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2006 bởi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Travis Oliphant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 điểm: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Tốc độ xử lý cực nhanh, tốn ít bộ nhớ hơn list của Python, hệ sinh thái lớn.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Không hỗ trợ GPU (mặc định), cú pháp khó hơn list cơ bản.</a:t>
            </a:r>
          </a:p>
        </p:txBody>
      </p:sp>
    </p:spTree>
    <p:extLst>
      <p:ext uri="{BB962C8B-B14F-4D97-AF65-F5344CB8AC3E}">
        <p14:creationId xmlns:p14="http://schemas.microsoft.com/office/powerpoint/2010/main" val="12023579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558404-06D1-4F04-AED3-5B56F4294603}"/>
              </a:ext>
            </a:extLst>
          </p:cNvPr>
          <p:cNvSpPr txBox="1"/>
          <p:nvPr/>
        </p:nvSpPr>
        <p:spPr>
          <a:xfrm>
            <a:off x="529513" y="632650"/>
            <a:ext cx="60975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Pandas (Python Data Analysis)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Thư viện mã nguồn mở dùng để thao tác và phân tích dữ liệu dạng bảng (Dataframe).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Thời gian &amp; Sáng lập: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2008 bởi 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Wes McKinney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Ưu điểm: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Mạnh mẽ trong xử lý dữ liệu thiếu, gộp/chia dữ liệu, đọc được nhiều định dạng (csv, excel, sql).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Tiêu tốn nhiều RAM với dữ liệu lớn, tốc độ chậm hơn Numpy thuần.</a:t>
            </a:r>
          </a:p>
        </p:txBody>
      </p:sp>
    </p:spTree>
    <p:extLst>
      <p:ext uri="{BB962C8B-B14F-4D97-AF65-F5344CB8AC3E}">
        <p14:creationId xmlns:p14="http://schemas.microsoft.com/office/powerpoint/2010/main" val="2412503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FC460A-46A6-45F4-82A9-CE2CB20E9013}"/>
              </a:ext>
            </a:extLst>
          </p:cNvPr>
          <p:cNvSpPr txBox="1"/>
          <p:nvPr/>
        </p:nvSpPr>
        <p:spPr>
          <a:xfrm>
            <a:off x="594827" y="530013"/>
            <a:ext cx="609755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Thư viện vẽ biểu đồ và trực quan hóa dữ liệu 2D.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Thời gian &amp; Sáng lập: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2003 bởi 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John D. Hunter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Ưu điểm: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Tùy biến cao, hỗ trợ hầu hết các loại biểu đồ cơ bản.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Cú pháp phức tạp, giao diện mặc định trông hơi "cổ điển" (không hiện đại bằng Seaborn/Plotly).</a:t>
            </a:r>
          </a:p>
        </p:txBody>
      </p:sp>
    </p:spTree>
    <p:extLst>
      <p:ext uri="{BB962C8B-B14F-4D97-AF65-F5344CB8AC3E}">
        <p14:creationId xmlns:p14="http://schemas.microsoft.com/office/powerpoint/2010/main" val="9079365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11029D5-03DE-44E0-95A1-14D101FE8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21" y="409904"/>
            <a:ext cx="7529805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9: PyTorch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Khái niệm: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Thư viện Machine Learning/Deep Learning dựa trên cấu trúc mảng Tensor, hỗ trợ tính toán trên GPU.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Thời gian &amp; Sáng lập: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2016 bởi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Facebook AI Research (FAIR)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 điểm: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Dễ học (Pythonic), biểu đồ tính toán động (Dynamic Computational Graph) giúp dễ debug, cộng đồng nghiên cứu lớn.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Nhược điểm: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Cộng đồng triển khai sản phẩm (Production) nhỏ hơn TensorFlow (dù đang tăng trưởng nhanh).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88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7ACB91-667F-43DD-85E3-FFC6C4A44B65}"/>
              </a:ext>
            </a:extLst>
          </p:cNvPr>
          <p:cNvSpPr txBox="1"/>
          <p:nvPr/>
        </p:nvSpPr>
        <p:spPr>
          <a:xfrm>
            <a:off x="268255" y="314521"/>
            <a:ext cx="700962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PHẦN 3: NOTEBOOK VÀ NGUỒN DỮ LIỆU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A7B70-D3FF-492E-B252-68EEA407FB57}"/>
              </a:ext>
            </a:extLst>
          </p:cNvPr>
          <p:cNvSpPr txBox="1"/>
          <p:nvPr/>
        </p:nvSpPr>
        <p:spPr>
          <a:xfrm>
            <a:off x="389554" y="791575"/>
            <a:ext cx="60975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Kaggle - Cộng đồng Khoa học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Kaggle là gì?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Nền tảng trực tuyến thuộc Google, nơi tổ chức các cuộc thi về Data Science, chia sẻ dataset và notebook.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phổ biến trên Kaggle: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Titanic: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Dự đoán hành khách sống sót.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Iris: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Phân loại các loài hoa lan.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MNIST: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Nhận diện chữ số viết tay.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House Prices: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Dự đoán giá nhà.</a:t>
            </a:r>
          </a:p>
        </p:txBody>
      </p:sp>
    </p:spTree>
    <p:extLst>
      <p:ext uri="{BB962C8B-B14F-4D97-AF65-F5344CB8AC3E}">
        <p14:creationId xmlns:p14="http://schemas.microsoft.com/office/powerpoint/2010/main" val="26590125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FE62E-9219-4C13-8E24-152C2DD0D659}"/>
              </a:ext>
            </a:extLst>
          </p:cNvPr>
          <p:cNvSpPr txBox="1"/>
          <p:nvPr/>
        </p:nvSpPr>
        <p:spPr>
          <a:xfrm>
            <a:off x="454868" y="382184"/>
            <a:ext cx="60975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- GitHub của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Tổng quan: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Là cộng đồng AI mã nguồn mở lớn nhất hiện nay, tập trung mạnh vào NLP, Audio và Computer Vision.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Có những gì?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Models: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Hàng trăm nghìn mô hình được huấn luyện sẵn (BERT, GPT, Stable Diffusion).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Datasets: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Kho dữ liệu khổng lồ đa ngôn ngữ.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Spaces: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Nơi demo các ứng dụng AI trực quan.</a:t>
            </a:r>
          </a:p>
        </p:txBody>
      </p:sp>
    </p:spTree>
    <p:extLst>
      <p:ext uri="{BB962C8B-B14F-4D97-AF65-F5344CB8AC3E}">
        <p14:creationId xmlns:p14="http://schemas.microsoft.com/office/powerpoint/2010/main" val="20310076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A8E2D2-2648-4F5C-ADC7-0B746C0DE51C}"/>
              </a:ext>
            </a:extLst>
          </p:cNvPr>
          <p:cNvSpPr txBox="1"/>
          <p:nvPr/>
        </p:nvSpPr>
        <p:spPr>
          <a:xfrm>
            <a:off x="492189" y="340987"/>
            <a:ext cx="78493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PHẦN 4: EXPLORATORY DATA ANALYSIS (EDA)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8A7E5-F777-46D8-82BD-073EB79AF546}"/>
              </a:ext>
            </a:extLst>
          </p:cNvPr>
          <p:cNvSpPr txBox="1"/>
          <p:nvPr/>
        </p:nvSpPr>
        <p:spPr>
          <a:xfrm>
            <a:off x="492189" y="818041"/>
            <a:ext cx="6097554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EDA là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Phân tích dữ liệu sơ bộ là bước khám phá dữ liệu để tóm tắt các đặc điểm chính, thường sử dụng các phương pháp trực quan hóa.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Mục đích: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Hiểu "câu chuyện" của dữ liệu trước khi đưa vào mô hình máy học.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vi-V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Quy trình EDA (Phần 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1. Hiểu dữ liệu (Data Understanding):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Kiểm tra kích thước dữ liệu (số dòng, số cột).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Xem các kiểu dữ liệu (số, chữ, ngày tháng).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Kiểm tra dữ liệu bị thiếu (Missing values).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Xem thống kê mô tả (Mean, Median, Min, Max).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2. Phân tích dữ liệu (Data Analysis):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đơn biến (Univariate): Xem xét từng biến riêng lẻ.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đa biến (Multivariate): Xem xét mối quan hệ giữa các biến (Ví dụ: Mối liên hệ giữa Tuổi và Thu nhập).</a:t>
            </a:r>
          </a:p>
        </p:txBody>
      </p:sp>
    </p:spTree>
    <p:extLst>
      <p:ext uri="{BB962C8B-B14F-4D97-AF65-F5344CB8AC3E}">
        <p14:creationId xmlns:p14="http://schemas.microsoft.com/office/powerpoint/2010/main" val="9888874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F48658-3229-4C7B-8D40-2407289FD78B}"/>
              </a:ext>
            </a:extLst>
          </p:cNvPr>
          <p:cNvSpPr txBox="1"/>
          <p:nvPr/>
        </p:nvSpPr>
        <p:spPr>
          <a:xfrm>
            <a:off x="520182" y="438167"/>
            <a:ext cx="6097554" cy="172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+mj-lt"/>
              </a:rPr>
              <a:t>2.</a:t>
            </a:r>
            <a:r>
              <a:rPr lang="vi-VN" b="1">
                <a:latin typeface="+mj-lt"/>
              </a:rPr>
              <a:t> Quy trình EDA (Phần 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>
                <a:latin typeface="+mj-lt"/>
              </a:rPr>
              <a:t> </a:t>
            </a:r>
            <a:r>
              <a:rPr lang="vi-VN" b="1">
                <a:latin typeface="+mj-lt"/>
              </a:rPr>
              <a:t>3. Trực quan hóa dữ liệu (Data Visualization):</a:t>
            </a:r>
            <a:endParaRPr lang="vi-VN">
              <a:latin typeface="+mj-lt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 quan hóa đơn biến (Univariate plots)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 quan hóa hai biến (Bivariate plots)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 quan hóa nhiều biến (Multivariate plots)</a:t>
            </a:r>
          </a:p>
        </p:txBody>
      </p:sp>
    </p:spTree>
    <p:extLst>
      <p:ext uri="{BB962C8B-B14F-4D97-AF65-F5344CB8AC3E}">
        <p14:creationId xmlns:p14="http://schemas.microsoft.com/office/powerpoint/2010/main" val="2213323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1185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GALAXY</dc:creator>
  <cp:lastModifiedBy>GALAXY</cp:lastModifiedBy>
  <cp:revision>16</cp:revision>
  <dcterms:created xsi:type="dcterms:W3CDTF">2025-11-28T01:53:21Z</dcterms:created>
  <dcterms:modified xsi:type="dcterms:W3CDTF">2025-11-28T02:49:41Z</dcterms:modified>
</cp:coreProperties>
</file>